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10"/>
    <p:sldId id="258" r:id="rId9"/>
    <p:sldId id="259" r:id="rId8"/>
    <p:sldId id="260" r:id="rId23"/>
    <p:sldId id="261" r:id="rId24"/>
    <p:sldId id="262" r:id="rId25"/>
    <p:sldId id="263" r:id="rId26"/>
    <p:sldId id="264" r:id="rId27"/>
    <p:sldId id="265" r:id="rId28"/>
    <p:sldId id="266" r:id="rId29"/>
  </p:sldIdLst>
  <p:sldSz cy="5143500" cx="9144000"/>
  <p:notesSz cx="6858000" cy="9144000"/>
  <p:embeddedFontLst>
    <p:embeddedFont>
      <p:font typeface="Raleway"/>
      <p:regular r:id="rId11"/>
      <p:bold r:id="rId12"/>
      <p:italic r:id="rId13"/>
      <p:boldItalic r:id="rId14"/>
    </p:embeddedFont>
    <p:embeddedFont>
      <p:font typeface="Nunito"/>
      <p:regular r:id="rId15"/>
      <p:bold r:id="rId16"/>
      <p:italic r:id="rId17"/>
      <p:boldItalic r:id="rId18"/>
    </p:embeddedFont>
    <p:embeddedFont>
      <p:font typeface="Merriweather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4.xml"/><Relationship Id="rId9" Type="http://schemas.openxmlformats.org/officeDocument/2006/relationships/slide" Target="slides/slide3.xml"/><Relationship Id="rId10" Type="http://schemas.openxmlformats.org/officeDocument/2006/relationships/slide" Target="slides/slide2.xml"/><Relationship Id="rId11" Type="http://schemas.openxmlformats.org/officeDocument/2006/relationships/font" Target="fonts/Raleway-regular.fntdata"/><Relationship Id="rId12" Type="http://schemas.openxmlformats.org/officeDocument/2006/relationships/font" Target="fonts/Raleway-bold.fntdata"/><Relationship Id="rId13" Type="http://schemas.openxmlformats.org/officeDocument/2006/relationships/font" Target="fonts/Raleway-italic.fntdata"/><Relationship Id="rId14" Type="http://schemas.openxmlformats.org/officeDocument/2006/relationships/font" Target="fonts/Raleway-boldItalic.fntdata"/><Relationship Id="rId15" Type="http://schemas.openxmlformats.org/officeDocument/2006/relationships/font" Target="fonts/Nunito-regular.fntdata"/><Relationship Id="rId16" Type="http://schemas.openxmlformats.org/officeDocument/2006/relationships/font" Target="fonts/Nunito-bold.fntdata"/><Relationship Id="rId17" Type="http://schemas.openxmlformats.org/officeDocument/2006/relationships/font" Target="fonts/Nunito-italic.fntdata"/><Relationship Id="rId18" Type="http://schemas.openxmlformats.org/officeDocument/2006/relationships/font" Target="fonts/Nunito-boldItalic.fntdata"/><Relationship Id="rId19" Type="http://schemas.openxmlformats.org/officeDocument/2006/relationships/font" Target="fonts/Merriweather-regular.fntdata"/><Relationship Id="rId20" Type="http://schemas.openxmlformats.org/officeDocument/2006/relationships/font" Target="fonts/Merriweather-bold.fntdata"/><Relationship Id="rId21" Type="http://schemas.openxmlformats.org/officeDocument/2006/relationships/font" Target="fonts/Merriweather-italic.fntdata"/><Relationship Id="rId22" Type="http://schemas.openxmlformats.org/officeDocument/2006/relationships/font" Target="fonts/Merriweather-boldItalic.fntdata"/><Relationship Id="rId23" Type="http://schemas.openxmlformats.org/officeDocument/2006/relationships/slide" Target="slides/slide5.xml"/><Relationship Id="rId24" Type="http://schemas.openxmlformats.org/officeDocument/2006/relationships/slide" Target="slides/slide6.xml"/><Relationship Id="rId25" Type="http://schemas.openxmlformats.org/officeDocument/2006/relationships/slide" Target="slides/slide7.xml"/><Relationship Id="rId26" Type="http://schemas.openxmlformats.org/officeDocument/2006/relationships/slide" Target="slides/slide8.xml"/><Relationship Id="rId27" Type="http://schemas.openxmlformats.org/officeDocument/2006/relationships/slide" Target="slides/slide9.xml"/><Relationship Id="rId28" Type="http://schemas.openxmlformats.org/officeDocument/2006/relationships/slide" Target="slides/slide10.xml"/><Relationship Id="rId29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5c7434b42c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Oie</a:t>
            </a:r>
            <a:endParaRPr/>
          </a:p>
        </p:txBody>
      </p:sp>
      <p:sp>
        <p:nvSpPr>
          <p:cNvPr id="104" name="Google Shape;104;g5c7434b42c_1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Por que reproduzir o GBA em FPGA: preservação, didática e viabilidade demonstrada por MiSTer/Analogue.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Formular o problema e a meta global; FPGA preserva comportamento, ao contrário da emulação em software.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Quatro objetivos específicos que decompõem a meta global O0.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Visão geral da arquitetura interna do console — alvo a ser reproduzido.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Plataforma, fluxo de ferramentas e estratégia de verificação em três níveis.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Mapa do projeto: o que está pronto (azul), integrado em validação (laranja) e planejado (cinza).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 núcleo funcional é a entrega central desta etapa: busca, decodifica e executa ARM/Thumb e trata exceções.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Memória do GBA já é o caminho ativo; falta consolidar a validação funcional do caminho integrado.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Situação no cronograma macro: concluídas F1–F2, em curso F3; F4–F6 são a continuidade prevista.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Recapitulação: PoC entregue, memória integrada, caminho claro até a entrega final.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60" y="1152360"/>
            <a:ext cx="85200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0" name="Google Shape;60;p16"/>
          <p:cNvSpPr txBox="1"/>
          <p:nvPr>
            <p:ph idx="1" type="body"/>
          </p:nvPr>
        </p:nvSpPr>
        <p:spPr>
          <a:xfrm>
            <a:off x="311760" y="1152360"/>
            <a:ext cx="85200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3" name="Google Shape;63;p17"/>
          <p:cNvSpPr txBox="1"/>
          <p:nvPr>
            <p:ph idx="1" type="body"/>
          </p:nvPr>
        </p:nvSpPr>
        <p:spPr>
          <a:xfrm>
            <a:off x="311760" y="1152360"/>
            <a:ext cx="41577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4" name="Google Shape;64;p17"/>
          <p:cNvSpPr txBox="1"/>
          <p:nvPr>
            <p:ph idx="2" type="body"/>
          </p:nvPr>
        </p:nvSpPr>
        <p:spPr>
          <a:xfrm>
            <a:off x="4677840" y="1152360"/>
            <a:ext cx="41577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8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9"/>
          <p:cNvSpPr txBox="1"/>
          <p:nvPr>
            <p:ph idx="1" type="subTitle"/>
          </p:nvPr>
        </p:nvSpPr>
        <p:spPr>
          <a:xfrm>
            <a:off x="311760" y="444960"/>
            <a:ext cx="8520000" cy="26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0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1" name="Google Shape;71;p20"/>
          <p:cNvSpPr txBox="1"/>
          <p:nvPr>
            <p:ph idx="1" type="body"/>
          </p:nvPr>
        </p:nvSpPr>
        <p:spPr>
          <a:xfrm>
            <a:off x="311760" y="115236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2" name="Google Shape;72;p20"/>
          <p:cNvSpPr txBox="1"/>
          <p:nvPr>
            <p:ph idx="2" type="body"/>
          </p:nvPr>
        </p:nvSpPr>
        <p:spPr>
          <a:xfrm>
            <a:off x="4677840" y="1152360"/>
            <a:ext cx="41577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3" name="Google Shape;73;p20"/>
          <p:cNvSpPr txBox="1"/>
          <p:nvPr>
            <p:ph idx="3" type="body"/>
          </p:nvPr>
        </p:nvSpPr>
        <p:spPr>
          <a:xfrm>
            <a:off x="311760" y="293688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>
            <a:off x="311760" y="1152360"/>
            <a:ext cx="41577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7" name="Google Shape;77;p21"/>
          <p:cNvSpPr txBox="1"/>
          <p:nvPr>
            <p:ph idx="2" type="body"/>
          </p:nvPr>
        </p:nvSpPr>
        <p:spPr>
          <a:xfrm>
            <a:off x="4677840" y="115236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8" name="Google Shape;78;p21"/>
          <p:cNvSpPr txBox="1"/>
          <p:nvPr>
            <p:ph idx="3" type="body"/>
          </p:nvPr>
        </p:nvSpPr>
        <p:spPr>
          <a:xfrm>
            <a:off x="4677840" y="293688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2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1" name="Google Shape;81;p22"/>
          <p:cNvSpPr txBox="1"/>
          <p:nvPr>
            <p:ph idx="1" type="body"/>
          </p:nvPr>
        </p:nvSpPr>
        <p:spPr>
          <a:xfrm>
            <a:off x="311760" y="115236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2" name="Google Shape;82;p22"/>
          <p:cNvSpPr txBox="1"/>
          <p:nvPr>
            <p:ph idx="2" type="body"/>
          </p:nvPr>
        </p:nvSpPr>
        <p:spPr>
          <a:xfrm>
            <a:off x="4677840" y="115236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3" name="Google Shape;83;p22"/>
          <p:cNvSpPr txBox="1"/>
          <p:nvPr>
            <p:ph idx="3" type="body"/>
          </p:nvPr>
        </p:nvSpPr>
        <p:spPr>
          <a:xfrm>
            <a:off x="311760" y="2936880"/>
            <a:ext cx="85200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6" name="Google Shape;86;p23"/>
          <p:cNvSpPr txBox="1"/>
          <p:nvPr>
            <p:ph idx="1" type="body"/>
          </p:nvPr>
        </p:nvSpPr>
        <p:spPr>
          <a:xfrm>
            <a:off x="311760" y="1152360"/>
            <a:ext cx="85200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7" name="Google Shape;87;p23"/>
          <p:cNvSpPr txBox="1"/>
          <p:nvPr>
            <p:ph idx="2" type="body"/>
          </p:nvPr>
        </p:nvSpPr>
        <p:spPr>
          <a:xfrm>
            <a:off x="311760" y="2936880"/>
            <a:ext cx="85200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4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0" name="Google Shape;90;p24"/>
          <p:cNvSpPr txBox="1"/>
          <p:nvPr>
            <p:ph idx="1" type="body"/>
          </p:nvPr>
        </p:nvSpPr>
        <p:spPr>
          <a:xfrm>
            <a:off x="311760" y="115236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1" name="Google Shape;91;p24"/>
          <p:cNvSpPr txBox="1"/>
          <p:nvPr>
            <p:ph idx="2" type="body"/>
          </p:nvPr>
        </p:nvSpPr>
        <p:spPr>
          <a:xfrm>
            <a:off x="4677840" y="115236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2" name="Google Shape;92;p24"/>
          <p:cNvSpPr txBox="1"/>
          <p:nvPr>
            <p:ph idx="3" type="body"/>
          </p:nvPr>
        </p:nvSpPr>
        <p:spPr>
          <a:xfrm>
            <a:off x="311760" y="293688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3" name="Google Shape;93;p24"/>
          <p:cNvSpPr txBox="1"/>
          <p:nvPr>
            <p:ph idx="4" type="body"/>
          </p:nvPr>
        </p:nvSpPr>
        <p:spPr>
          <a:xfrm>
            <a:off x="4677840" y="293688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5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6" name="Google Shape;96;p25"/>
          <p:cNvSpPr txBox="1"/>
          <p:nvPr>
            <p:ph idx="1" type="body"/>
          </p:nvPr>
        </p:nvSpPr>
        <p:spPr>
          <a:xfrm>
            <a:off x="311760" y="1152360"/>
            <a:ext cx="27432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7" name="Google Shape;97;p25"/>
          <p:cNvSpPr txBox="1"/>
          <p:nvPr>
            <p:ph idx="2" type="body"/>
          </p:nvPr>
        </p:nvSpPr>
        <p:spPr>
          <a:xfrm>
            <a:off x="3192480" y="1152360"/>
            <a:ext cx="27432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8" name="Google Shape;98;p25"/>
          <p:cNvSpPr txBox="1"/>
          <p:nvPr>
            <p:ph idx="3" type="body"/>
          </p:nvPr>
        </p:nvSpPr>
        <p:spPr>
          <a:xfrm>
            <a:off x="6073200" y="1152360"/>
            <a:ext cx="27432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9" name="Google Shape;99;p25"/>
          <p:cNvSpPr txBox="1"/>
          <p:nvPr>
            <p:ph idx="4" type="body"/>
          </p:nvPr>
        </p:nvSpPr>
        <p:spPr>
          <a:xfrm>
            <a:off x="311760" y="2936880"/>
            <a:ext cx="27432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0" name="Google Shape;100;p25"/>
          <p:cNvSpPr txBox="1"/>
          <p:nvPr>
            <p:ph idx="5" type="body"/>
          </p:nvPr>
        </p:nvSpPr>
        <p:spPr>
          <a:xfrm>
            <a:off x="3192480" y="2936880"/>
            <a:ext cx="27432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1" name="Google Shape;101;p25"/>
          <p:cNvSpPr txBox="1"/>
          <p:nvPr>
            <p:ph idx="6" type="body"/>
          </p:nvPr>
        </p:nvSpPr>
        <p:spPr>
          <a:xfrm>
            <a:off x="6073200" y="2936880"/>
            <a:ext cx="27432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3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60" y="744480"/>
            <a:ext cx="8520000" cy="205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8472600" y="4663080"/>
            <a:ext cx="5484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457200" y="1203480"/>
            <a:ext cx="82293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6"/>
          <p:cNvSpPr/>
          <p:nvPr/>
        </p:nvSpPr>
        <p:spPr>
          <a:xfrm>
            <a:off x="0" y="2108880"/>
            <a:ext cx="9143700" cy="14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2300">
                <a:solidFill>
                  <a:srgbClr val="0B5394"/>
                </a:solidFill>
                <a:latin typeface="Raleway"/>
                <a:ea typeface="Raleway"/>
                <a:cs typeface="Raleway"/>
                <a:sym typeface="Raleway"/>
              </a:rPr>
              <a:t>Reprodução da Arquitetura do Game Boy Advance em FPGA</a:t>
            </a:r>
            <a:endParaRPr b="1" sz="2800">
              <a:solidFill>
                <a:srgbClr val="0B539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pt-BR" sz="2300">
                <a:solidFill>
                  <a:srgbClr val="0B5394"/>
                </a:solidFill>
                <a:latin typeface="Raleway"/>
                <a:ea typeface="Raleway"/>
                <a:cs typeface="Raleway"/>
                <a:sym typeface="Raleway"/>
              </a:rPr>
              <a:t>TCC — Entrega Intermediária (Prova de Conceito)</a:t>
            </a:r>
            <a:endParaRPr i="1" sz="2800">
              <a:solidFill>
                <a:srgbClr val="0B539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A61C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7" name="Google Shape;107;p26"/>
          <p:cNvSpPr/>
          <p:nvPr/>
        </p:nvSpPr>
        <p:spPr>
          <a:xfrm>
            <a:off x="5626950" y="3734250"/>
            <a:ext cx="35169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Caio Jun Takahashi</a:t>
            </a:r>
            <a:endParaRPr sz="1600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Nº USP: 12488380</a:t>
            </a:r>
            <a:endParaRPr sz="1600">
              <a:solidFill>
                <a:srgbClr val="666666"/>
              </a:solidFill>
            </a:endParaRPr>
          </a:p>
        </p:txBody>
      </p:sp>
      <p:sp>
        <p:nvSpPr>
          <p:cNvPr id="108" name="Google Shape;108;p26"/>
          <p:cNvSpPr/>
          <p:nvPr/>
        </p:nvSpPr>
        <p:spPr>
          <a:xfrm>
            <a:off x="150" y="3030165"/>
            <a:ext cx="9143700" cy="5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6"/>
          <p:cNvSpPr/>
          <p:nvPr/>
        </p:nvSpPr>
        <p:spPr>
          <a:xfrm>
            <a:off x="335875" y="3549450"/>
            <a:ext cx="31668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solidFill>
                <a:srgbClr val="A61C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1800">
                <a:solidFill>
                  <a:srgbClr val="073763"/>
                </a:solidFill>
                <a:latin typeface="Raleway"/>
                <a:ea typeface="Raleway"/>
                <a:cs typeface="Raleway"/>
                <a:sym typeface="Raleway"/>
              </a:rPr>
              <a:t>Eng. Elétrica – Sistemas Eletrônicos</a:t>
            </a:r>
            <a:br>
              <a:rPr b="0" i="0" lang="pt-BR" sz="1800" u="none" cap="none" strike="noStrike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800">
                <a:solidFill>
                  <a:srgbClr val="073763"/>
                </a:solidFill>
                <a:latin typeface="Raleway"/>
                <a:ea typeface="Raleway"/>
                <a:cs typeface="Raleway"/>
                <a:sym typeface="Raleway"/>
              </a:rPr>
              <a:t>Orientador: Prof. Dr. Bruno C. de S. Sanches</a:t>
            </a:r>
            <a:endParaRPr b="0" sz="1800" u="none" cap="none" strike="noStrike">
              <a:solidFill>
                <a:srgbClr val="07376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6"/>
          <p:cNvPicPr preferRelativeResize="0"/>
          <p:nvPr/>
        </p:nvPicPr>
        <p:blipFill rotWithShape="1">
          <a:blip r:embed="rId3">
            <a:alphaModFix/>
          </a:blip>
          <a:srcRect b="12098" l="0" r="0" t="12098"/>
          <a:stretch/>
        </p:blipFill>
        <p:spPr>
          <a:xfrm>
            <a:off x="6609180" y="-89970"/>
            <a:ext cx="2723844" cy="145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2009667" cy="18040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95528"/>
          </a:xfrm>
          <a:prstGeom prst="rect">
            <a:avLst/>
          </a:prstGeom>
          <a:solidFill>
            <a:srgbClr val="122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tIns="18288" bIns="18288"/>
          <a:lstStyle/>
          <a:p>
            <a:pPr algn="l"/>
            <a:r>
              <a:rPr sz="2000" b="1">
                <a:solidFill>
                  <a:srgbClr val="FFFFFF"/>
                </a:solidFill>
                <a:latin typeface="Merriweather"/>
              </a:rPr>
              <a:t>Contexto e Motivação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46177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202020"/>
                </a:solidFill>
                <a:latin typeface="Raleway"/>
              </a:rPr>
              <a:t>•  Game Boy Advance (Nintendo, 2001): portátil de 32 bits, núcleo RISC ARM7TDMI a 16,78 MHz.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02020"/>
                </a:solidFill>
                <a:latin typeface="Raleway"/>
              </a:rPr>
              <a:t>•  Console descontinuado (2010): hardware original escasso e cada vez mais caro.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02020"/>
                </a:solidFill>
                <a:latin typeface="Raleway"/>
              </a:rPr>
              <a:t>•  Emulação em software desvia temporização e comportamento — difícil de auditar.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02020"/>
                </a:solidFill>
                <a:latin typeface="Raleway"/>
              </a:rPr>
              <a:t>•  Motivação: preservação histórica, valor didático e viabilidade tecnológica.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02020"/>
                </a:solidFill>
                <a:latin typeface="Raleway"/>
              </a:rPr>
              <a:t>•  Hardware reconfigurável já consolidado: MiSTer FPGA e Analogue Pocket.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49240" y="1234440"/>
            <a:ext cx="3383280" cy="2743200"/>
          </a:xfrm>
          <a:prstGeom prst="roundRect">
            <a:avLst/>
          </a:prstGeom>
          <a:solidFill>
            <a:srgbClr val="EEEEEE"/>
          </a:solidFill>
          <a:ln w="15875">
            <a:solidFill>
              <a:srgbClr val="80808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i="1">
                <a:solidFill>
                  <a:srgbClr val="808080"/>
                </a:solidFill>
                <a:latin typeface="Raleway"/>
              </a:rPr>
              <a:t>🖼  IMAGEM SUGERIDA
foto do console Game Boy Advance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95528"/>
          </a:xfrm>
          <a:prstGeom prst="rect">
            <a:avLst/>
          </a:prstGeom>
          <a:solidFill>
            <a:srgbClr val="122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tIns="18288" bIns="18288"/>
          <a:lstStyle/>
          <a:p>
            <a:pPr algn="l"/>
            <a:r>
              <a:rPr sz="2000" b="1">
                <a:solidFill>
                  <a:srgbClr val="FFFFFF"/>
                </a:solidFill>
                <a:latin typeface="Merriweather"/>
              </a:rPr>
              <a:t>Problema e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82296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202020"/>
                </a:solidFill>
                <a:latin typeface="Raleway"/>
              </a:rPr>
              <a:t>•  Problema: executar jogos do GBA com fidelidade depende do hardware original (escasso) ou de emulação em software (com desvios de temporização).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202020"/>
                </a:solidFill>
                <a:latin typeface="Raleway"/>
              </a:rPr>
              <a:t>•  Objetivo (O0): reproduzir a arquitetura do GBA em FPGA de baixo custo, executando binários nativos do console.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202020"/>
                </a:solidFill>
                <a:latin typeface="Raleway"/>
              </a:rPr>
              <a:t>•  Diferencial: descrever os blocos em Verilog (RTL) preserva o comportamento ciclo a ciclo — fidelidade no nível de barramento e de registradores.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202020"/>
                </a:solidFill>
                <a:latin typeface="Raleway"/>
              </a:rPr>
              <a:t>•  Níveis de fidelidade: funcional → ciclo-aproximada → ciclo-perfeita (meta inicial: funcional/ciclo-aproximada, evolutiva).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95528"/>
          </a:xfrm>
          <a:prstGeom prst="rect">
            <a:avLst/>
          </a:prstGeom>
          <a:solidFill>
            <a:srgbClr val="122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tIns="18288" bIns="18288"/>
          <a:lstStyle/>
          <a:p>
            <a:pPr algn="l"/>
            <a:r>
              <a:rPr sz="2000" b="1">
                <a:solidFill>
                  <a:srgbClr val="FFFFFF"/>
                </a:solidFill>
                <a:latin typeface="Merriweather"/>
              </a:rPr>
              <a:t>Objetivos Específicos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82296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700">
                <a:solidFill>
                  <a:srgbClr val="202020"/>
                </a:solidFill>
                <a:latin typeface="Raleway"/>
              </a:rPr>
              <a:t>•  O1 — Núcleo ARM7TDMI sintetizável em Verilog (ARM + Thumb, exceções, banco de registradores por modo).</a:t>
            </a:r>
          </a:p>
          <a:p>
            <a:pPr algn="l">
              <a:spcAft>
                <a:spcPts val="1400"/>
              </a:spcAft>
            </a:pPr>
            <a:r>
              <a:rPr sz="1700">
                <a:solidFill>
                  <a:srgbClr val="202020"/>
                </a:solidFill>
                <a:latin typeface="Raleway"/>
              </a:rPr>
              <a:t>•  O2 — Subsistema de memória: mapa do GBA, controlador e árbitro de barramento, DMA e controlador de SDRAM.</a:t>
            </a:r>
          </a:p>
          <a:p>
            <a:pPr algn="l">
              <a:spcAft>
                <a:spcPts val="1400"/>
              </a:spcAft>
            </a:pPr>
            <a:r>
              <a:rPr sz="1700">
                <a:solidFill>
                  <a:srgbClr val="202020"/>
                </a:solidFill>
                <a:latin typeface="Raleway"/>
              </a:rPr>
              <a:t>•  O3 — Saída de vídeo: gerador VGA e framebuffer 240×160 (Modo 3, bitmap 16 bpp).</a:t>
            </a:r>
          </a:p>
          <a:p>
            <a:pPr algn="l">
              <a:spcAft>
                <a:spcPts val="1400"/>
              </a:spcAft>
            </a:pPr>
            <a:r>
              <a:rPr sz="1700">
                <a:solidFill>
                  <a:srgbClr val="202020"/>
                </a:solidFill>
                <a:latin typeface="Raleway"/>
              </a:rPr>
              <a:t>•  O4 — Integração e validação: testes em ARM/Thumb e execução de uma ROM homebrew.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95528"/>
          </a:xfrm>
          <a:prstGeom prst="rect">
            <a:avLst/>
          </a:prstGeom>
          <a:solidFill>
            <a:srgbClr val="122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tIns="18288" bIns="18288"/>
          <a:lstStyle/>
          <a:p>
            <a:pPr algn="l"/>
            <a:r>
              <a:rPr sz="2000" b="1">
                <a:solidFill>
                  <a:srgbClr val="FFFFFF"/>
                </a:solidFill>
                <a:latin typeface="Merriweather"/>
              </a:rPr>
              <a:t>Arquitetura do Game Boy Advance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41605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202020"/>
                </a:solidFill>
                <a:latin typeface="Raleway"/>
              </a:rPr>
              <a:t>•  SoC: ARM7TDMI + co-processador Sharp (retrocompat. GB/GBC).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02020"/>
                </a:solidFill>
                <a:latin typeface="Raleway"/>
              </a:rPr>
              <a:t>•  Memórias: BIOS, EWRAM (256 KiB), IWRAM (32 KiB), VRAM (96 KiB), Palette, OAM.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02020"/>
                </a:solidFill>
                <a:latin typeface="Raleway"/>
              </a:rPr>
              <a:t>•  PPU com 6 modos gráficos, 4 canais de DMA e unidade de áudio.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02020"/>
                </a:solidFill>
                <a:latin typeface="Raleway"/>
              </a:rPr>
              <a:t>•  Game Pak (ROM de cartucho) em barramento de 16 bits.</a:t>
            </a:r>
          </a:p>
        </p:txBody>
      </p:sp>
      <p:pic>
        <p:nvPicPr>
          <p:cNvPr id="4" name="Picture 3" descr="gba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439293"/>
            <a:ext cx="4206240" cy="242493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09160" y="3891658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808080"/>
                </a:solidFill>
                <a:latin typeface="Raleway"/>
              </a:rPr>
              <a:t>Fonte: Copetti (2019).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95528"/>
          </a:xfrm>
          <a:prstGeom prst="rect">
            <a:avLst/>
          </a:prstGeom>
          <a:solidFill>
            <a:srgbClr val="122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tIns="18288" bIns="18288"/>
          <a:lstStyle/>
          <a:p>
            <a:pPr algn="l"/>
            <a:r>
              <a:rPr sz="2000" b="1">
                <a:solidFill>
                  <a:srgbClr val="FFFFFF"/>
                </a:solidFill>
                <a:latin typeface="Merriweather"/>
              </a:rPr>
              <a:t>Materiais e Métodos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46177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202020"/>
                </a:solidFill>
                <a:latin typeface="Raleway"/>
              </a:rPr>
              <a:t>•  Plataforma: placa Altera DE1-SoC — FPGA Cyclone V (5CSEMA5F31C6).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02020"/>
                </a:solidFill>
                <a:latin typeface="Raleway"/>
              </a:rPr>
              <a:t>•  SDRAM externa (16 bits) → ROM de cartucho; memórias on-chip (M10K) → demais regiões.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02020"/>
                </a:solidFill>
                <a:latin typeface="Raleway"/>
              </a:rPr>
              <a:t>•  Fluxo: Quartus Prime 15.1 (síntese, P&amp;R, timing) e ModelSim/QuestaSim (simulação RTL).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02020"/>
                </a:solidFill>
                <a:latin typeface="Raleway"/>
              </a:rPr>
              <a:t>•  Toolchain arm-none-eabi (as/ld/objcopy) → programas de teste em ARM e Thumb.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02020"/>
                </a:solidFill>
                <a:latin typeface="Raleway"/>
              </a:rPr>
              <a:t>•  Verificação: SignalTap (r0–r15 e barramentos) + comparação com emulador (golden model).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49240" y="1234440"/>
            <a:ext cx="3383280" cy="2743200"/>
          </a:xfrm>
          <a:prstGeom prst="roundRect">
            <a:avLst/>
          </a:prstGeom>
          <a:solidFill>
            <a:srgbClr val="EEEEEE"/>
          </a:solidFill>
          <a:ln w="15875">
            <a:solidFill>
              <a:srgbClr val="80808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i="1">
                <a:solidFill>
                  <a:srgbClr val="808080"/>
                </a:solidFill>
                <a:latin typeface="Raleway"/>
              </a:rPr>
              <a:t>🖼  IMAGEM SUGERIDA
foto da placa DE1-SoC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95528"/>
          </a:xfrm>
          <a:prstGeom prst="rect">
            <a:avLst/>
          </a:prstGeom>
          <a:solidFill>
            <a:srgbClr val="122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tIns="18288" bIns="18288"/>
          <a:lstStyle/>
          <a:p>
            <a:pPr algn="l"/>
            <a:r>
              <a:rPr sz="2000" b="1">
                <a:solidFill>
                  <a:srgbClr val="FFFFFF"/>
                </a:solidFill>
                <a:latin typeface="Merriweather"/>
              </a:rPr>
              <a:t>Arquitetura-objetivo: quatro camadas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202020"/>
                </a:solidFill>
                <a:latin typeface="Raleway"/>
              </a:rPr>
              <a:t>O sistema avança em quatro camadas incrementais: núcleo, memória, vídeo e integração.</a:t>
            </a:r>
          </a:p>
        </p:txBody>
      </p:sp>
      <p:pic>
        <p:nvPicPr>
          <p:cNvPr id="4" name="Picture 3" descr="arquitetura_objetivo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8026" y="1371600"/>
            <a:ext cx="6067947" cy="2926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33425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808080"/>
                </a:solidFill>
                <a:latin typeface="Raleway"/>
              </a:rPr>
              <a:t>Azul: implementado e validado  ·  Laranja: integrado, em validação  ·  Cinza: planejado.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95528"/>
          </a:xfrm>
          <a:prstGeom prst="rect">
            <a:avLst/>
          </a:prstGeom>
          <a:solidFill>
            <a:srgbClr val="122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tIns="18288" bIns="18288"/>
          <a:lstStyle/>
          <a:p>
            <a:pPr algn="l"/>
            <a:r>
              <a:rPr sz="2000" b="1">
                <a:solidFill>
                  <a:srgbClr val="FFFFFF"/>
                </a:solidFill>
                <a:latin typeface="Merriweather"/>
              </a:rPr>
              <a:t>Camada 1: Núcleo ARM7TDMI — Prova de Conceito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60120"/>
            <a:ext cx="5760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202020"/>
                </a:solidFill>
                <a:latin typeface="Raleway"/>
              </a:rPr>
              <a:t>•  Núcleo multi-ciclo em Verilog: decoder, reg_bank, alu, b_shifter, multiplier, incrementer, address_reg.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02020"/>
                </a:solidFill>
                <a:latin typeface="Raleway"/>
              </a:rPr>
              <a:t>•  Conjuntos ARM e Thumb; exceções Reset, SWI, Undef, Prefetch/Data Abort, IRQ e FIQ.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02020"/>
                </a:solidFill>
                <a:latin typeface="Raleway"/>
              </a:rPr>
              <a:t>•  Banco de registradores espelhado por modo (Usuário, Sistema, SVC, Abort, Undef, IRQ, FIQ).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02020"/>
                </a:solidFill>
                <a:latin typeface="Raleway"/>
              </a:rPr>
              <a:t>•  ✅ Validado em simulação (QuestaSim) e em hardware (DE1-SoC).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02020"/>
                </a:solidFill>
                <a:latin typeface="Raleway"/>
              </a:rPr>
              <a:t>•  É a Prova de Conceito desta entrega intermediária.</a:t>
            </a:r>
          </a:p>
        </p:txBody>
      </p:sp>
      <p:pic>
        <p:nvPicPr>
          <p:cNvPr id="4" name="Picture 3" descr="cpu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325" y="960120"/>
            <a:ext cx="2576109" cy="3108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0" y="408736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808080"/>
                </a:solidFill>
                <a:latin typeface="Raleway"/>
              </a:rPr>
              <a:t>Diagrama do ARM7TDMI. Fonte: ARM Limited.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572000"/>
            <a:ext cx="5760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808080"/>
                </a:solidFill>
                <a:latin typeface="Raleway"/>
              </a:rPr>
              <a:t>🖼  Imagem sugerida: captura do SignalTap / foto da placa executando o teste.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95528"/>
          </a:xfrm>
          <a:prstGeom prst="rect">
            <a:avLst/>
          </a:prstGeom>
          <a:solidFill>
            <a:srgbClr val="122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tIns="18288" bIns="18288"/>
          <a:lstStyle/>
          <a:p>
            <a:pPr algn="l"/>
            <a:r>
              <a:rPr sz="2000" b="1">
                <a:solidFill>
                  <a:srgbClr val="FFFFFF"/>
                </a:solidFill>
                <a:latin typeface="Merriweather"/>
              </a:rPr>
              <a:t>Camada 2: Subsistema de Memória (integrado, em validação)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14400"/>
            <a:ext cx="83210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202020"/>
                </a:solidFill>
                <a:latin typeface="Raleway"/>
              </a:rPr>
              <a:t>•  Mapa de memória do GBA ativo: decodificação por addr[27:24] (bus_controller).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02020"/>
                </a:solidFill>
                <a:latin typeface="Raleway"/>
              </a:rPr>
              <a:t>•  Árbitro de barramento (CPU ↔ DMA) e canal de DMA integrados; regiões internas em M10K.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02020"/>
                </a:solidFill>
                <a:latin typeface="Raleway"/>
              </a:rPr>
              <a:t>•  PAK_ROM na SDRAM externa via controlador próprio (CDC com retenção de requisição).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02020"/>
                </a:solidFill>
                <a:latin typeface="Raleway"/>
              </a:rPr>
              <a:t>•  ⏳ Integrado ao datapath; validação funcional do caminho integrado em andamento.</a:t>
            </a:r>
          </a:p>
        </p:txBody>
      </p:sp>
      <p:pic>
        <p:nvPicPr>
          <p:cNvPr id="4" name="Picture 3" descr="rtl_at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785" y="2331720"/>
            <a:ext cx="6004429" cy="2331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681727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808080"/>
                </a:solidFill>
                <a:latin typeface="Raleway"/>
              </a:rPr>
              <a:t>Netlist RTL atual (RTL Viewer, Quartus): núcleo + subsistema de memória.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95528"/>
          </a:xfrm>
          <a:prstGeom prst="rect">
            <a:avLst/>
          </a:prstGeom>
          <a:solidFill>
            <a:srgbClr val="122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tIns="18288" bIns="18288"/>
          <a:lstStyle/>
          <a:p>
            <a:pPr algn="l"/>
            <a:r>
              <a:rPr sz="2000" b="1">
                <a:solidFill>
                  <a:srgbClr val="FFFFFF"/>
                </a:solidFill>
                <a:latin typeface="Merriweather"/>
              </a:rPr>
              <a:t>Cronograma e Próximos Passos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82296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>
                <a:solidFill>
                  <a:srgbClr val="202020"/>
                </a:solidFill>
                <a:latin typeface="Raleway"/>
              </a:rPr>
              <a:t>•  ✅ F1–F2: arquitetura + núcleo ARM7TDMI, validado em simulação e em hardware (entrega intermediária).</a:t>
            </a:r>
          </a:p>
          <a:p>
            <a:pPr algn="l">
              <a:spcAft>
                <a:spcPts val="1200"/>
              </a:spcAft>
            </a:pPr>
            <a:r>
              <a:rPr sz="1600">
                <a:solidFill>
                  <a:srgbClr val="202020"/>
                </a:solidFill>
                <a:latin typeface="Raleway"/>
              </a:rPr>
              <a:t>•  ⏳ F3 (atual): subsistema de memória integrado; validação funcional do caminho em andamento.</a:t>
            </a:r>
          </a:p>
          <a:p>
            <a:pPr algn="l">
              <a:spcAft>
                <a:spcPts val="1200"/>
              </a:spcAft>
            </a:pPr>
            <a:r>
              <a:rPr sz="1600">
                <a:solidFill>
                  <a:srgbClr val="202020"/>
                </a:solidFill>
                <a:latin typeface="Raleway"/>
              </a:rPr>
              <a:t>•  ○ F4: PPU e saída de vídeo (Modo 3, VGA).</a:t>
            </a:r>
          </a:p>
          <a:p>
            <a:pPr algn="l">
              <a:spcAft>
                <a:spcPts val="1200"/>
              </a:spcAft>
            </a:pPr>
            <a:r>
              <a:rPr sz="1600">
                <a:solidFill>
                  <a:srgbClr val="202020"/>
                </a:solidFill>
                <a:latin typeface="Raleway"/>
              </a:rPr>
              <a:t>•  ○ F5: entrada do usuário (joypad) e gerador de som.</a:t>
            </a:r>
          </a:p>
          <a:p>
            <a:pPr algn="l">
              <a:spcAft>
                <a:spcPts val="1200"/>
              </a:spcAft>
            </a:pPr>
            <a:r>
              <a:rPr sz="1600">
                <a:solidFill>
                  <a:srgbClr val="202020"/>
                </a:solidFill>
                <a:latin typeface="Raleway"/>
              </a:rPr>
              <a:t>•  ○ F6: validação com ROM real — carga de um SD Card para a SDRAM.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95528"/>
          </a:xfrm>
          <a:prstGeom prst="rect">
            <a:avLst/>
          </a:prstGeom>
          <a:solidFill>
            <a:srgbClr val="122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tIns="18288" bIns="18288"/>
          <a:lstStyle/>
          <a:p>
            <a:pPr algn="l"/>
            <a:r>
              <a:rPr sz="2000" b="1">
                <a:solidFill>
                  <a:srgbClr val="FFFFFF"/>
                </a:solidFill>
                <a:latin typeface="Merriweather"/>
              </a:rPr>
              <a:t>Conclusão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82296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700">
                <a:solidFill>
                  <a:srgbClr val="202020"/>
                </a:solidFill>
                <a:latin typeface="Raleway"/>
              </a:rPr>
              <a:t>•  Núcleo ARM7TDMI completo (ARM/Thumb + exceções) implementado e validado → Prova de Conceito alcançada.</a:t>
            </a:r>
          </a:p>
          <a:p>
            <a:pPr algn="l">
              <a:spcAft>
                <a:spcPts val="1400"/>
              </a:spcAft>
            </a:pPr>
            <a:r>
              <a:rPr sz="1700">
                <a:solidFill>
                  <a:srgbClr val="202020"/>
                </a:solidFill>
                <a:latin typeface="Raleway"/>
              </a:rPr>
              <a:t>•  Subsistema de memória do GBA descrito e integrado ao datapath (validação em andamento).</a:t>
            </a:r>
          </a:p>
          <a:p>
            <a:pPr algn="l">
              <a:spcAft>
                <a:spcPts val="1400"/>
              </a:spcAft>
            </a:pPr>
            <a:r>
              <a:rPr sz="1700">
                <a:solidFill>
                  <a:srgbClr val="202020"/>
                </a:solidFill>
                <a:latin typeface="Raleway"/>
              </a:rPr>
              <a:t>•  Arquitetura aberta e didática, documentada em português, sobre plataforma consolidada (DE1-SoC).</a:t>
            </a:r>
          </a:p>
          <a:p>
            <a:pPr algn="l">
              <a:spcAft>
                <a:spcPts val="1400"/>
              </a:spcAft>
            </a:pPr>
            <a:r>
              <a:rPr sz="1700">
                <a:solidFill>
                  <a:srgbClr val="202020"/>
                </a:solidFill>
                <a:latin typeface="Raleway"/>
              </a:rPr>
              <a:t>•  Próximos passos: validar a memória, implementar vídeo (PPU/VGA) e executar uma ROM homebrew.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